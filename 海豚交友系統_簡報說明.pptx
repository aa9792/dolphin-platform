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1D467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182880"/>
            <a:ext cx="3657600" cy="3657600"/>
          </a:xfrm>
          <a:prstGeom prst="ellipse">
            <a:avLst/>
          </a:prstGeom>
          <a:solidFill>
            <a:srgbClr val="23508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🐬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海豚交友系統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系統運作流程 · 使用說明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E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打造溫暖、有同理心的社交新體驗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3A9EC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即時性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384048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3A9EC8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隱私安全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384048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3A9EC8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共融社群感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系統概述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海豚交友系統為青少年設計，提供 AI 海豚陪伴與真人認證陪伴者，協助面對人際挑戰、情緒困擾，並學習做出更好的決策。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2606040" cy="73152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一般用戶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109728" cy="109728"/>
          </a:xfrm>
          <a:prstGeom prst="ellipse">
            <a:avLst/>
          </a:prstGeom>
          <a:solidFill>
            <a:srgbClr val="3A9EC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072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情緒地圖探索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09728" cy="109728"/>
          </a:xfrm>
          <a:prstGeom prst="ellipse">
            <a:avLst/>
          </a:prstGeom>
          <a:solidFill>
            <a:srgbClr val="3A9EC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4015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選擇海豚陪伴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109728" cy="109728"/>
          </a:xfrm>
          <a:prstGeom prst="ellipse">
            <a:avLst/>
          </a:prstGeom>
          <a:solidFill>
            <a:srgbClr val="3A9EC8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9959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對話與決策模擬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463040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463040"/>
            <a:ext cx="2606040" cy="73152"/>
          </a:xfrm>
          <a:prstGeom prst="rect">
            <a:avLst/>
          </a:prstGeom>
          <a:solidFill>
            <a:srgbClr val="8B7CC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👩‍🏫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200400" y="2395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7C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教師 / 師長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83280" y="2852928"/>
            <a:ext cx="109728" cy="109728"/>
          </a:xfrm>
          <a:prstGeom prst="ellipse">
            <a:avLst/>
          </a:prstGeom>
          <a:solidFill>
            <a:srgbClr val="8B7CC8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28072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班級情緒儀表板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447288"/>
            <a:ext cx="109728" cy="109728"/>
          </a:xfrm>
          <a:prstGeom prst="ellipse">
            <a:avLst/>
          </a:prstGeom>
          <a:solidFill>
            <a:srgbClr val="8B7CC8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34015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心情趨勢折線圖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4041648"/>
            <a:ext cx="109728" cy="109728"/>
          </a:xfrm>
          <a:prstGeom prst="ellipse">
            <a:avLst/>
          </a:prstGeom>
          <a:solidFill>
            <a:srgbClr val="8B7CC8"/>
          </a:solidFill>
          <a:ln/>
        </p:spPr>
      </p:sp>
      <p:sp>
        <p:nvSpPr>
          <p:cNvPr id="25" name="Text 23"/>
          <p:cNvSpPr/>
          <p:nvPr/>
        </p:nvSpPr>
        <p:spPr>
          <a:xfrm>
            <a:off x="3547872" y="39959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個別學生概況查看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463040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463040"/>
            <a:ext cx="2606040" cy="73152"/>
          </a:xfrm>
          <a:prstGeom prst="rect">
            <a:avLst/>
          </a:prstGeom>
          <a:solidFill>
            <a:srgbClr val="D4954A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🤝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035040" y="2395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95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認證陪伴者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17920" y="2852928"/>
            <a:ext cx="109728" cy="109728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28072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陪伴任務接單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447288"/>
            <a:ext cx="109728" cy="109728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34015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珍珠幣獎勵機制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4041648"/>
            <a:ext cx="109728" cy="109728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35" name="Text 33"/>
          <p:cNvSpPr/>
          <p:nvPr/>
        </p:nvSpPr>
        <p:spPr>
          <a:xfrm>
            <a:off x="6382512" y="39959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配對媒合系統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整體運作流程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2450592"/>
            <a:ext cx="8321040" cy="54864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423160"/>
            <a:ext cx="457200" cy="109728"/>
          </a:xfrm>
          <a:prstGeom prst="rect">
            <a:avLst/>
          </a:prstGeom>
          <a:solidFill>
            <a:srgbClr val="A0BED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28600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ED0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" y="2176272"/>
            <a:ext cx="658368" cy="658368"/>
          </a:xfrm>
          <a:prstGeom prst="ellipse">
            <a:avLst/>
          </a:prstGeom>
          <a:solidFill>
            <a:srgbClr val="3A9EC8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822960"/>
            <a:ext cx="1234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8412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開啟系統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94436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開啟 dolphin_demo.html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進入歡迎頁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423160"/>
            <a:ext cx="457200" cy="109728"/>
          </a:xfrm>
          <a:prstGeom prst="rect">
            <a:avLst/>
          </a:prstGeom>
          <a:solidFill>
            <a:srgbClr val="A0BED0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28600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ED0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93392" y="2176272"/>
            <a:ext cx="658368" cy="658368"/>
          </a:xfrm>
          <a:prstGeom prst="ellipse">
            <a:avLst/>
          </a:prstGeom>
          <a:solidFill>
            <a:srgbClr val="8B7CC8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9339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822960"/>
            <a:ext cx="1234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0" y="8412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🪪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C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選擇身份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294436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一般用戶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教師・認證陪伴者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2423160"/>
            <a:ext cx="457200" cy="109728"/>
          </a:xfrm>
          <a:prstGeom prst="rect">
            <a:avLst/>
          </a:prstGeom>
          <a:solidFill>
            <a:srgbClr val="A0BED0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28600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ED0"/>
                </a:solidFill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10712" y="2176272"/>
            <a:ext cx="658368" cy="658368"/>
          </a:xfrm>
          <a:prstGeom prst="ellipse">
            <a:avLst/>
          </a:prstGeom>
          <a:solidFill>
            <a:srgbClr val="5BB8A0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1071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822960"/>
            <a:ext cx="1234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8412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24612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B8A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情緒地圖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294436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點選情緒島嶼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進入對應主題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2423160"/>
            <a:ext cx="457200" cy="109728"/>
          </a:xfrm>
          <a:prstGeom prst="rect">
            <a:avLst/>
          </a:prstGeom>
          <a:solidFill>
            <a:srgbClr val="A0BED0"/>
          </a:solidFill>
          <a:ln/>
        </p:spPr>
      </p:sp>
      <p:sp>
        <p:nvSpPr>
          <p:cNvPr id="31" name="Text 29"/>
          <p:cNvSpPr/>
          <p:nvPr/>
        </p:nvSpPr>
        <p:spPr>
          <a:xfrm>
            <a:off x="5897880" y="228600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ED0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28032" y="2176272"/>
            <a:ext cx="658368" cy="658368"/>
          </a:xfrm>
          <a:prstGeom prst="ellipse">
            <a:avLst/>
          </a:prstGeom>
          <a:solidFill>
            <a:srgbClr val="3A9EC8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2803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822960"/>
            <a:ext cx="1234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8412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🐬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66344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選擇海豚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294436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五種個性海豚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或隨機抽選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2423160"/>
            <a:ext cx="457200" cy="109728"/>
          </a:xfrm>
          <a:prstGeom prst="rect">
            <a:avLst/>
          </a:prstGeom>
          <a:solidFill>
            <a:srgbClr val="A0BED0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0" y="228600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ED0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45352" y="2176272"/>
            <a:ext cx="658368" cy="658368"/>
          </a:xfrm>
          <a:prstGeom prst="ellipse">
            <a:avLst/>
          </a:prstGeom>
          <a:solidFill>
            <a:srgbClr val="8B7CC8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4535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80760" y="822960"/>
            <a:ext cx="1234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080760" y="8412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08076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C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開始對話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80760" y="294436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情境選擇或自由輸入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語音輸入支援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62672" y="2176272"/>
            <a:ext cx="658368" cy="658368"/>
          </a:xfrm>
          <a:prstGeom prst="ellipse">
            <a:avLst/>
          </a:prstGeom>
          <a:solidFill>
            <a:srgbClr val="D4954A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66267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498080" y="822960"/>
            <a:ext cx="1234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498080" y="8412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749808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5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決策模擬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0" y="294436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方案分析與視覺化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海豚個性化評語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2D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用戶旅程地圖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508760" cy="411480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探索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325880"/>
            <a:ext cx="64008" cy="548640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點選情緒地圖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84248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984248"/>
            <a:ext cx="64008" cy="548640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9842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選擇情緒島嶼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1463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ED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822960"/>
            <a:ext cx="1508760" cy="411480"/>
          </a:xfrm>
          <a:prstGeom prst="rect">
            <a:avLst/>
          </a:prstGeom>
          <a:solidFill>
            <a:srgbClr val="8B7CC8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822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配對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11680" y="1325880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0" y="1325880"/>
            <a:ext cx="64008" cy="548640"/>
          </a:xfrm>
          <a:prstGeom prst="rect">
            <a:avLst/>
          </a:prstGeom>
          <a:solidFill>
            <a:srgbClr val="8B7CC8"/>
          </a:solidFill>
          <a:ln/>
        </p:spPr>
      </p:sp>
      <p:sp>
        <p:nvSpPr>
          <p:cNvPr id="18" name="Text 16"/>
          <p:cNvSpPr/>
          <p:nvPr/>
        </p:nvSpPr>
        <p:spPr>
          <a:xfrm>
            <a:off x="2121408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選擇海豚個性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1984248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1984248"/>
            <a:ext cx="64008" cy="548640"/>
          </a:xfrm>
          <a:prstGeom prst="rect">
            <a:avLst/>
          </a:prstGeom>
          <a:solidFill>
            <a:srgbClr val="8B7CC8"/>
          </a:solidFill>
          <a:ln/>
        </p:spPr>
      </p:sp>
      <p:sp>
        <p:nvSpPr>
          <p:cNvPr id="21" name="Text 19"/>
          <p:cNvSpPr/>
          <p:nvPr/>
        </p:nvSpPr>
        <p:spPr>
          <a:xfrm>
            <a:off x="2121408" y="19842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或隨機抽選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1463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ED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49040" y="822960"/>
            <a:ext cx="1508760" cy="411480"/>
          </a:xfrm>
          <a:prstGeom prst="rect">
            <a:avLst/>
          </a:prstGeom>
          <a:solidFill>
            <a:srgbClr val="5BB8A0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822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對話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49040" y="1325880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26" name="Shape 24"/>
          <p:cNvSpPr/>
          <p:nvPr/>
        </p:nvSpPr>
        <p:spPr>
          <a:xfrm>
            <a:off x="3749040" y="1325880"/>
            <a:ext cx="64008" cy="548640"/>
          </a:xfrm>
          <a:prstGeom prst="rect">
            <a:avLst/>
          </a:prstGeom>
          <a:solidFill>
            <a:srgbClr val="5BB8A0"/>
          </a:solidFill>
          <a:ln/>
        </p:spPr>
      </p:sp>
      <p:sp>
        <p:nvSpPr>
          <p:cNvPr id="27" name="Text 25"/>
          <p:cNvSpPr/>
          <p:nvPr/>
        </p:nvSpPr>
        <p:spPr>
          <a:xfrm>
            <a:off x="3858768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選擇情境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49040" y="1984248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29" name="Shape 27"/>
          <p:cNvSpPr/>
          <p:nvPr/>
        </p:nvSpPr>
        <p:spPr>
          <a:xfrm>
            <a:off x="3749040" y="1984248"/>
            <a:ext cx="64008" cy="548640"/>
          </a:xfrm>
          <a:prstGeom prst="rect">
            <a:avLst/>
          </a:prstGeom>
          <a:solidFill>
            <a:srgbClr val="5BB8A0"/>
          </a:solidFill>
          <a:ln/>
        </p:spPr>
      </p:sp>
      <p:sp>
        <p:nvSpPr>
          <p:cNvPr id="30" name="Text 28"/>
          <p:cNvSpPr/>
          <p:nvPr/>
        </p:nvSpPr>
        <p:spPr>
          <a:xfrm>
            <a:off x="3858768" y="19842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或自由輸入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1463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ED0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0" y="822960"/>
            <a:ext cx="1508760" cy="411480"/>
          </a:xfrm>
          <a:prstGeom prst="rect">
            <a:avLst/>
          </a:prstGeom>
          <a:solidFill>
            <a:srgbClr val="D495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822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決策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0" y="1325880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0" y="1325880"/>
            <a:ext cx="64008" cy="548640"/>
          </a:xfrm>
          <a:prstGeom prst="rect">
            <a:avLst/>
          </a:prstGeom>
          <a:solidFill>
            <a:srgbClr val="D4954A"/>
          </a:solidFill>
          <a:ln/>
        </p:spPr>
      </p:sp>
      <p:sp>
        <p:nvSpPr>
          <p:cNvPr id="36" name="Text 34"/>
          <p:cNvSpPr/>
          <p:nvPr/>
        </p:nvSpPr>
        <p:spPr>
          <a:xfrm>
            <a:off x="5596128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點擊🔮模擬器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1984248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0" y="1984248"/>
            <a:ext cx="64008" cy="548640"/>
          </a:xfrm>
          <a:prstGeom prst="rect">
            <a:avLst/>
          </a:prstGeom>
          <a:solidFill>
            <a:srgbClr val="D4954A"/>
          </a:solidFill>
          <a:ln/>
        </p:spPr>
      </p:sp>
      <p:sp>
        <p:nvSpPr>
          <p:cNvPr id="39" name="Text 37"/>
          <p:cNvSpPr/>
          <p:nvPr/>
        </p:nvSpPr>
        <p:spPr>
          <a:xfrm>
            <a:off x="5596128" y="19842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分析行動方案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1463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ED0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223760" y="822960"/>
            <a:ext cx="1508760" cy="411480"/>
          </a:xfrm>
          <a:prstGeom prst="rect">
            <a:avLst/>
          </a:prstGeom>
          <a:solidFill>
            <a:srgbClr val="D0706A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0" y="822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結束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223760" y="1325880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44" name="Shape 42"/>
          <p:cNvSpPr/>
          <p:nvPr/>
        </p:nvSpPr>
        <p:spPr>
          <a:xfrm>
            <a:off x="7223760" y="1325880"/>
            <a:ext cx="64008" cy="548640"/>
          </a:xfrm>
          <a:prstGeom prst="rect">
            <a:avLst/>
          </a:prstGeom>
          <a:solidFill>
            <a:srgbClr val="D0706A"/>
          </a:solidFill>
          <a:ln/>
        </p:spPr>
      </p:sp>
      <p:sp>
        <p:nvSpPr>
          <p:cNvPr id="45" name="Text 43"/>
          <p:cNvSpPr/>
          <p:nvPr/>
        </p:nvSpPr>
        <p:spPr>
          <a:xfrm>
            <a:off x="7333488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點擊結束✕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23760" y="1984248"/>
            <a:ext cx="1508760" cy="548640"/>
          </a:xfrm>
          <a:prstGeom prst="rect">
            <a:avLst/>
          </a:prstGeom>
          <a:solidFill>
            <a:srgbClr val="233F5E"/>
          </a:solidFill>
          <a:ln/>
        </p:spPr>
      </p:sp>
      <p:sp>
        <p:nvSpPr>
          <p:cNvPr id="47" name="Shape 45"/>
          <p:cNvSpPr/>
          <p:nvPr/>
        </p:nvSpPr>
        <p:spPr>
          <a:xfrm>
            <a:off x="7223760" y="1984248"/>
            <a:ext cx="64008" cy="548640"/>
          </a:xfrm>
          <a:prstGeom prst="rect">
            <a:avLst/>
          </a:prstGeom>
          <a:solidFill>
            <a:srgbClr val="D0706A"/>
          </a:solidFill>
          <a:ln/>
        </p:spPr>
      </p:sp>
      <p:sp>
        <p:nvSpPr>
          <p:cNvPr id="48" name="Text 46"/>
          <p:cNvSpPr/>
          <p:nvPr/>
        </p:nvSpPr>
        <p:spPr>
          <a:xfrm>
            <a:off x="7333488" y="19842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接收告別語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BE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情緒狀態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320" y="32461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D3F60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3246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😟 困擾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011680" y="32461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D3F60"/>
          </a:solidFill>
          <a:ln/>
        </p:spPr>
      </p:sp>
      <p:sp>
        <p:nvSpPr>
          <p:cNvPr id="53" name="Text 51"/>
          <p:cNvSpPr/>
          <p:nvPr/>
        </p:nvSpPr>
        <p:spPr>
          <a:xfrm>
            <a:off x="2011680" y="3246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🤔 期待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749040" y="32461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D3F60"/>
          </a:solidFill>
          <a:ln/>
        </p:spPr>
      </p:sp>
      <p:sp>
        <p:nvSpPr>
          <p:cNvPr id="55" name="Text 53"/>
          <p:cNvSpPr/>
          <p:nvPr/>
        </p:nvSpPr>
        <p:spPr>
          <a:xfrm>
            <a:off x="3749040" y="3246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💙 被接納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0" y="32461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D3F60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0" y="3246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🧐 思考中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223760" y="32461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D3F60"/>
          </a:solidFill>
          <a:ln/>
        </p:spPr>
      </p:sp>
      <p:sp>
        <p:nvSpPr>
          <p:cNvPr id="59" name="Text 57"/>
          <p:cNvSpPr/>
          <p:nvPr/>
        </p:nvSpPr>
        <p:spPr>
          <a:xfrm>
            <a:off x="7223760" y="3246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🌟 釋懷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BE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用戶情緒旅程: 從困擾 → 被理解 → 清晰決策 → 溫暖告別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五種海豚個性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1536192" cy="3840480"/>
          </a:xfrm>
          <a:prstGeom prst="rect">
            <a:avLst/>
          </a:prstGeom>
          <a:solidFill>
            <a:srgbClr val="D8EDF8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1536192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00584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🐬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30352" y="1874520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185FA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8745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邏輯型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224028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26060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理性海豚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1316736" cy="36576"/>
          </a:xfrm>
          <a:prstGeom prst="rect">
            <a:avLst/>
          </a:prstGeom>
          <a:solidFill>
            <a:srgbClr val="185FA5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30906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分析利弊 · 拆解問題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93392" y="822960"/>
            <a:ext cx="1536192" cy="3840480"/>
          </a:xfrm>
          <a:prstGeom prst="rect">
            <a:avLst/>
          </a:prstGeom>
          <a:solidFill>
            <a:srgbClr val="FDEAE6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822960"/>
            <a:ext cx="1536192" cy="73152"/>
          </a:xfrm>
          <a:prstGeom prst="rect">
            <a:avLst/>
          </a:prstGeom>
          <a:solidFill>
            <a:srgbClr val="C05040"/>
          </a:solidFill>
          <a:ln/>
        </p:spPr>
      </p:sp>
      <p:sp>
        <p:nvSpPr>
          <p:cNvPr id="16" name="Text 14"/>
          <p:cNvSpPr/>
          <p:nvPr/>
        </p:nvSpPr>
        <p:spPr>
          <a:xfrm>
            <a:off x="1993392" y="100584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🐬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2267712" y="1874520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C05040"/>
          </a:solidFill>
          <a:ln/>
        </p:spPr>
      </p:sp>
      <p:sp>
        <p:nvSpPr>
          <p:cNvPr id="18" name="Text 16"/>
          <p:cNvSpPr/>
          <p:nvPr/>
        </p:nvSpPr>
        <p:spPr>
          <a:xfrm>
            <a:off x="2267712" y="18745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共感型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93392" y="224028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04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93392" y="26060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情緒海豚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2971800"/>
            <a:ext cx="1316736" cy="36576"/>
          </a:xfrm>
          <a:prstGeom prst="rect">
            <a:avLst/>
          </a:prstGeom>
          <a:solidFill>
            <a:srgbClr val="C05040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993392" y="30906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情感共鳴 · 重視感受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30752" y="822960"/>
            <a:ext cx="1536192" cy="3840480"/>
          </a:xfrm>
          <a:prstGeom prst="rect">
            <a:avLst/>
          </a:prstGeom>
          <a:solidFill>
            <a:srgbClr val="FDE8B8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0752" y="822960"/>
            <a:ext cx="1536192" cy="73152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25" name="Text 23"/>
          <p:cNvSpPr/>
          <p:nvPr/>
        </p:nvSpPr>
        <p:spPr>
          <a:xfrm>
            <a:off x="3730752" y="100584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🐬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4005072" y="1874520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B87820"/>
          </a:solidFill>
          <a:ln/>
        </p:spPr>
      </p:sp>
      <p:sp>
        <p:nvSpPr>
          <p:cNvPr id="27" name="Text 25"/>
          <p:cNvSpPr/>
          <p:nvPr/>
        </p:nvSpPr>
        <p:spPr>
          <a:xfrm>
            <a:off x="4005072" y="18745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行動型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30752" y="224028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782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30752" y="26060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勇氣海豚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2971800"/>
            <a:ext cx="1316736" cy="36576"/>
          </a:xfrm>
          <a:prstGeom prst="rect">
            <a:avLst/>
          </a:prstGeom>
          <a:solidFill>
            <a:srgbClr val="B87820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730752" y="30906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鼓勵行動 · 突破困境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68112" y="822960"/>
            <a:ext cx="1536192" cy="3840480"/>
          </a:xfrm>
          <a:prstGeom prst="rect">
            <a:avLst/>
          </a:prstGeom>
          <a:solidFill>
            <a:srgbClr val="D0EFE0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68112" y="822960"/>
            <a:ext cx="1536192" cy="73152"/>
          </a:xfrm>
          <a:prstGeom prst="rect">
            <a:avLst/>
          </a:prstGeom>
          <a:solidFill>
            <a:srgbClr val="186840"/>
          </a:solidFill>
          <a:ln/>
        </p:spPr>
      </p:sp>
      <p:sp>
        <p:nvSpPr>
          <p:cNvPr id="34" name="Text 32"/>
          <p:cNvSpPr/>
          <p:nvPr/>
        </p:nvSpPr>
        <p:spPr>
          <a:xfrm>
            <a:off x="5468112" y="100584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🐬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5742432" y="1874520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186840"/>
          </a:solidFill>
          <a:ln/>
        </p:spPr>
      </p:sp>
      <p:sp>
        <p:nvSpPr>
          <p:cNvPr id="36" name="Text 34"/>
          <p:cNvSpPr/>
          <p:nvPr/>
        </p:nvSpPr>
        <p:spPr>
          <a:xfrm>
            <a:off x="5742432" y="18745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穩健型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68112" y="224028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684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68112" y="26060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安全海豚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2971800"/>
            <a:ext cx="1316736" cy="36576"/>
          </a:xfrm>
          <a:prstGeom prst="rect">
            <a:avLst/>
          </a:prstGeom>
          <a:solidFill>
            <a:srgbClr val="186840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68112" y="30906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謹慎評估 · 降低風險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05472" y="822960"/>
            <a:ext cx="1536192" cy="3840480"/>
          </a:xfrm>
          <a:prstGeom prst="rect">
            <a:avLst/>
          </a:prstGeom>
          <a:solidFill>
            <a:srgbClr val="E4E0F8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822960"/>
            <a:ext cx="1536192" cy="73152"/>
          </a:xfrm>
          <a:prstGeom prst="rect">
            <a:avLst/>
          </a:prstGeom>
          <a:solidFill>
            <a:srgbClr val="5C4AB0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00584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🐬</a:t>
            </a:r>
            <a:endParaRPr lang="en-US" sz="3200" dirty="0"/>
          </a:p>
        </p:txBody>
      </p:sp>
      <p:sp>
        <p:nvSpPr>
          <p:cNvPr id="44" name="Shape 42"/>
          <p:cNvSpPr/>
          <p:nvPr/>
        </p:nvSpPr>
        <p:spPr>
          <a:xfrm>
            <a:off x="7479792" y="1874520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5C4AB0"/>
          </a:solidFill>
          <a:ln/>
        </p:spPr>
      </p:sp>
      <p:sp>
        <p:nvSpPr>
          <p:cNvPr id="45" name="Text 43"/>
          <p:cNvSpPr/>
          <p:nvPr/>
        </p:nvSpPr>
        <p:spPr>
          <a:xfrm>
            <a:off x="7479792" y="18745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社交型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05472" y="224028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4A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小紫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05472" y="260604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社交海豚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0" y="2971800"/>
            <a:ext cx="1316736" cy="36576"/>
          </a:xfrm>
          <a:prstGeom prst="rect">
            <a:avLst/>
          </a:prstGeom>
          <a:solidFill>
            <a:srgbClr val="5C4AB0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205472" y="30906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人際分析 · 關係策略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74720" y="4224528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D0EDF8"/>
          </a:solidFill>
          <a:ln/>
        </p:spPr>
      </p:sp>
      <p:sp>
        <p:nvSpPr>
          <p:cNvPr id="51" name="Text 49"/>
          <p:cNvSpPr/>
          <p:nvPr/>
        </p:nvSpPr>
        <p:spPr>
          <a:xfrm>
            <a:off x="3474720" y="4224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🎲  也可選擇「隨機海豚」讓系統幫你配對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對話 · 語音 · 模擬器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3840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3840480" cy="457200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41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🐬 小理  ● 線上中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2103120" cy="438912"/>
          </a:xfrm>
          <a:prstGeom prst="roundRect">
            <a:avLst>
              <a:gd name="adj" fmla="val 20833"/>
            </a:avLst>
          </a:prstGeom>
          <a:solidFill>
            <a:srgbClr val="D0ED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173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嗨！我是小理 🐬 分析問題是我的強項！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1965960"/>
            <a:ext cx="2103120" cy="438912"/>
          </a:xfrm>
          <a:prstGeom prst="roundRect">
            <a:avLst>
              <a:gd name="adj" fmla="val 20833"/>
            </a:avLst>
          </a:prstGeom>
          <a:solidFill>
            <a:srgbClr val="3A9EC8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1965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我跟好朋友吵架了...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87168"/>
            <a:ext cx="2103120" cy="438912"/>
          </a:xfrm>
          <a:prstGeom prst="roundRect">
            <a:avLst>
              <a:gd name="adj" fmla="val 20833"/>
            </a:avLst>
          </a:prstGeom>
          <a:solidFill>
            <a:srgbClr val="D0E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87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三天沒說話，黃金修復期正在縮短 📊 你們友誼多久了？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3154680"/>
            <a:ext cx="2103120" cy="438912"/>
          </a:xfrm>
          <a:prstGeom prst="roundRect">
            <a:avLst>
              <a:gd name="adj" fmla="val 20833"/>
            </a:avLst>
          </a:prstGeom>
          <a:solidFill>
            <a:srgbClr val="3A9EC8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31546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大概三年的好朋友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3840480" cy="502920"/>
          </a:xfrm>
          <a:prstGeom prst="rect">
            <a:avLst/>
          </a:prstGeom>
          <a:solidFill>
            <a:srgbClr val="F4F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D0E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😔 吵架了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09928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D0E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709928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😰 幫作業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44368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D0EDF8"/>
          </a:solidFill>
          <a:ln/>
        </p:spPr>
      </p:sp>
      <p:sp>
        <p:nvSpPr>
          <p:cNvPr id="22" name="Text 20"/>
          <p:cNvSpPr/>
          <p:nvPr/>
        </p:nvSpPr>
        <p:spPr>
          <a:xfrm>
            <a:off x="2944368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😟 被排擠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3840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315968"/>
            <a:ext cx="2560320" cy="320040"/>
          </a:xfrm>
          <a:prstGeom prst="roundRect">
            <a:avLst>
              <a:gd name="adj" fmla="val 28571"/>
            </a:avLst>
          </a:prstGeom>
          <a:solidFill>
            <a:srgbClr val="F0F8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E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說說你的感受...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27248" y="4315968"/>
            <a:ext cx="320040" cy="320040"/>
          </a:xfrm>
          <a:prstGeom prst="ellipse">
            <a:avLst/>
          </a:prstGeom>
          <a:solidFill>
            <a:srgbClr val="3A9EC8"/>
          </a:solidFill>
          <a:ln/>
        </p:spPr>
      </p:sp>
      <p:sp>
        <p:nvSpPr>
          <p:cNvPr id="27" name="Text 25"/>
          <p:cNvSpPr/>
          <p:nvPr/>
        </p:nvSpPr>
        <p:spPr>
          <a:xfrm>
            <a:off x="3127248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20440" y="4315968"/>
            <a:ext cx="320040" cy="320040"/>
          </a:xfrm>
          <a:prstGeom prst="ellipse">
            <a:avLst/>
          </a:prstGeom>
          <a:solidFill>
            <a:srgbClr val="D0EDF8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611880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8B7CC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611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🔮 模擬器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841248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987552"/>
            <a:ext cx="548640" cy="548640"/>
          </a:xfrm>
          <a:prstGeom prst="ellipse">
            <a:avLst/>
          </a:prstGeom>
          <a:solidFill>
            <a:srgbClr val="D0EDF8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76672" y="9509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情境快選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76672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三個常見情境按鈕，快速進入對話主題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182880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1975104"/>
            <a:ext cx="548640" cy="548640"/>
          </a:xfrm>
          <a:prstGeom prst="ellipse">
            <a:avLst/>
          </a:prstGeom>
          <a:solidFill>
            <a:srgbClr val="E8E4F8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76672" y="19385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語音輸入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76672" y="22494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支援中文（台灣）語音辨識，說話即輸入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2816352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2962656"/>
            <a:ext cx="548640" cy="548640"/>
          </a:xfrm>
          <a:prstGeom prst="ellipse">
            <a:avLst/>
          </a:prstGeom>
          <a:solidFill>
            <a:srgbClr val="E8E4F8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76672" y="2926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決策模擬器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76672" y="32369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固定浮動在角落，隨時可進入方案分析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0" y="3803904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950208"/>
            <a:ext cx="548640" cy="548640"/>
          </a:xfrm>
          <a:prstGeom prst="ellipse">
            <a:avLst/>
          </a:prstGeom>
          <a:solidFill>
            <a:srgbClr val="FDE2DE"/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✕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376672" y="39136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70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告別卡片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76672" y="42245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結束對話後顯示海豚專屬溫馨告別語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CC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🔮 決策模擬器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E8E4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8B7CC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7C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情境：我跟好朋友吵架了，三天沒說話了...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44752"/>
            <a:ext cx="2651760" cy="54864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" y="1572768"/>
            <a:ext cx="384048" cy="384048"/>
          </a:xfrm>
          <a:prstGeom prst="ellipse">
            <a:avLst/>
          </a:prstGeom>
          <a:solidFill>
            <a:srgbClr val="3A9EC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01952" y="160020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A9EC8"/>
          </a:solidFill>
          <a:ln/>
        </p:spPr>
      </p:sp>
      <p:sp>
        <p:nvSpPr>
          <p:cNvPr id="13" name="Text 11"/>
          <p:cNvSpPr/>
          <p:nvPr/>
        </p:nvSpPr>
        <p:spPr>
          <a:xfrm>
            <a:off x="1901952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⭐ 推薦選項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主動傳訊道歉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關係修復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24912"/>
            <a:ext cx="1912010" cy="128016"/>
          </a:xfrm>
          <a:prstGeom prst="rect">
            <a:avLst/>
          </a:prstGeom>
          <a:solidFill>
            <a:srgbClr val="5AB8D8"/>
          </a:solidFill>
          <a:ln/>
        </p:spPr>
      </p:sp>
      <p:sp>
        <p:nvSpPr>
          <p:cNvPr id="18" name="Text 16"/>
          <p:cNvSpPr/>
          <p:nvPr/>
        </p:nvSpPr>
        <p:spPr>
          <a:xfrm>
            <a:off x="2259482" y="26974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B8D8"/>
                </a:solidFill>
              </a:rPr>
              <a:t>82%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0540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自我保護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91840"/>
            <a:ext cx="1282446" cy="128016"/>
          </a:xfrm>
          <a:prstGeom prst="rect">
            <a:avLst/>
          </a:prstGeom>
          <a:solidFill>
            <a:srgbClr val="A0BED0"/>
          </a:solidFill>
          <a:ln/>
        </p:spPr>
      </p:sp>
      <p:sp>
        <p:nvSpPr>
          <p:cNvPr id="22" name="Text 20"/>
          <p:cNvSpPr/>
          <p:nvPr/>
        </p:nvSpPr>
        <p:spPr>
          <a:xfrm>
            <a:off x="1629918" y="32644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0BED0"/>
                </a:solidFill>
              </a:rPr>
              <a:t>55%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621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長期影響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858768"/>
            <a:ext cx="1818742" cy="128016"/>
          </a:xfrm>
          <a:prstGeom prst="rect">
            <a:avLst/>
          </a:prstGeom>
          <a:solidFill>
            <a:srgbClr val="5AB8D8"/>
          </a:solidFill>
          <a:ln/>
        </p:spPr>
      </p:sp>
      <p:sp>
        <p:nvSpPr>
          <p:cNvPr id="26" name="Text 24"/>
          <p:cNvSpPr/>
          <p:nvPr/>
        </p:nvSpPr>
        <p:spPr>
          <a:xfrm>
            <a:off x="2166214" y="38313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B8D8"/>
                </a:solidFill>
              </a:rPr>
              <a:t>78%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" y="4224528"/>
            <a:ext cx="2505456" cy="411480"/>
          </a:xfrm>
          <a:prstGeom prst="rect">
            <a:avLst/>
          </a:prstGeom>
          <a:solidFill>
            <a:srgbClr val="F4FA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912" y="4224528"/>
            <a:ext cx="45720" cy="411480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4224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長期友誼主動和解成功率較高，建議勇敢開口。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1444752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1444752"/>
            <a:ext cx="2651760" cy="54864"/>
          </a:xfrm>
          <a:prstGeom prst="rect">
            <a:avLst/>
          </a:prstGeom>
          <a:solidFill>
            <a:srgbClr val="D4954A"/>
          </a:solidFill>
          <a:ln/>
        </p:spPr>
      </p:sp>
      <p:sp>
        <p:nvSpPr>
          <p:cNvPr id="32" name="Shape 30"/>
          <p:cNvSpPr/>
          <p:nvPr/>
        </p:nvSpPr>
        <p:spPr>
          <a:xfrm>
            <a:off x="3355848" y="1572768"/>
            <a:ext cx="384048" cy="384048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5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等待對方先道歉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2487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關係修復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2724912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3337560" y="2724912"/>
            <a:ext cx="979322" cy="128016"/>
          </a:xfrm>
          <a:prstGeom prst="rect">
            <a:avLst/>
          </a:prstGeom>
          <a:solidFill>
            <a:srgbClr val="A0BED0"/>
          </a:solidFill>
          <a:ln/>
        </p:spPr>
      </p:sp>
      <p:sp>
        <p:nvSpPr>
          <p:cNvPr id="38" name="Text 36"/>
          <p:cNvSpPr/>
          <p:nvPr/>
        </p:nvSpPr>
        <p:spPr>
          <a:xfrm>
            <a:off x="4207154" y="26974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0BED0"/>
                </a:solidFill>
              </a:rPr>
              <a:t>42%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37560" y="30540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自我保護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37560" y="3291840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41" name="Shape 39"/>
          <p:cNvSpPr/>
          <p:nvPr/>
        </p:nvSpPr>
        <p:spPr>
          <a:xfrm>
            <a:off x="3337560" y="3291840"/>
            <a:ext cx="1865376" cy="128016"/>
          </a:xfrm>
          <a:prstGeom prst="rect">
            <a:avLst/>
          </a:prstGeom>
          <a:solidFill>
            <a:srgbClr val="D4A460"/>
          </a:solidFill>
          <a:ln/>
        </p:spPr>
      </p:sp>
      <p:sp>
        <p:nvSpPr>
          <p:cNvPr id="42" name="Text 40"/>
          <p:cNvSpPr/>
          <p:nvPr/>
        </p:nvSpPr>
        <p:spPr>
          <a:xfrm>
            <a:off x="5093208" y="32644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460"/>
                </a:solidFill>
              </a:rPr>
              <a:t>80%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37560" y="3621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長期影響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37560" y="3858768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45" name="Shape 43"/>
          <p:cNvSpPr/>
          <p:nvPr/>
        </p:nvSpPr>
        <p:spPr>
          <a:xfrm>
            <a:off x="3337560" y="3858768"/>
            <a:ext cx="1049274" cy="128016"/>
          </a:xfrm>
          <a:prstGeom prst="rect">
            <a:avLst/>
          </a:prstGeom>
          <a:solidFill>
            <a:srgbClr val="A0BED0"/>
          </a:solidFill>
          <a:ln/>
        </p:spPr>
      </p:sp>
      <p:sp>
        <p:nvSpPr>
          <p:cNvPr id="46" name="Text 44"/>
          <p:cNvSpPr/>
          <p:nvPr/>
        </p:nvSpPr>
        <p:spPr>
          <a:xfrm>
            <a:off x="4277106" y="38313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0BED0"/>
                </a:solidFill>
              </a:rPr>
              <a:t>45%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19272" y="4224528"/>
            <a:ext cx="2505456" cy="411480"/>
          </a:xfrm>
          <a:prstGeom prst="rect">
            <a:avLst/>
          </a:prstGeom>
          <a:solidFill>
            <a:srgbClr val="F4FAFF"/>
          </a:solidFill>
          <a:ln/>
        </p:spPr>
      </p:sp>
      <p:sp>
        <p:nvSpPr>
          <p:cNvPr id="48" name="Shape 46"/>
          <p:cNvSpPr/>
          <p:nvPr/>
        </p:nvSpPr>
        <p:spPr>
          <a:xfrm>
            <a:off x="3319272" y="4224528"/>
            <a:ext cx="45720" cy="411480"/>
          </a:xfrm>
          <a:prstGeom prst="rect">
            <a:avLst/>
          </a:prstGeom>
          <a:solidFill>
            <a:srgbClr val="D4954A"/>
          </a:solidFill>
          <a:ln/>
        </p:spPr>
      </p:sp>
      <p:sp>
        <p:nvSpPr>
          <p:cNvPr id="49" name="Text 47"/>
          <p:cNvSpPr/>
          <p:nvPr/>
        </p:nvSpPr>
        <p:spPr>
          <a:xfrm>
            <a:off x="3410712" y="4224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被動等待可能拉長冷戰期，關係修復率較低。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1444752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26480" y="1444752"/>
            <a:ext cx="2651760" cy="54864"/>
          </a:xfrm>
          <a:prstGeom prst="rect">
            <a:avLst/>
          </a:prstGeom>
          <a:solidFill>
            <a:srgbClr val="5BB8A0"/>
          </a:solidFill>
          <a:ln/>
        </p:spPr>
      </p:sp>
      <p:sp>
        <p:nvSpPr>
          <p:cNvPr id="52" name="Shape 50"/>
          <p:cNvSpPr/>
          <p:nvPr/>
        </p:nvSpPr>
        <p:spPr>
          <a:xfrm>
            <a:off x="6236208" y="1572768"/>
            <a:ext cx="384048" cy="384048"/>
          </a:xfrm>
          <a:prstGeom prst="ellipse">
            <a:avLst/>
          </a:prstGeom>
          <a:solidFill>
            <a:srgbClr val="5BB8A0"/>
          </a:solidFill>
          <a:ln/>
        </p:spPr>
      </p:sp>
      <p:sp>
        <p:nvSpPr>
          <p:cNvPr id="53" name="Text 51"/>
          <p:cNvSpPr/>
          <p:nvPr/>
        </p:nvSpPr>
        <p:spPr>
          <a:xfrm>
            <a:off x="62362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1792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B8A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找共同朋友調解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217920" y="2487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關係修復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17920" y="2724912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57" name="Shape 55"/>
          <p:cNvSpPr/>
          <p:nvPr/>
        </p:nvSpPr>
        <p:spPr>
          <a:xfrm>
            <a:off x="6217920" y="2724912"/>
            <a:ext cx="1585570" cy="128016"/>
          </a:xfrm>
          <a:prstGeom prst="rect">
            <a:avLst/>
          </a:prstGeom>
          <a:solidFill>
            <a:srgbClr val="5BB8A0"/>
          </a:solidFill>
          <a:ln/>
        </p:spPr>
      </p:sp>
      <p:sp>
        <p:nvSpPr>
          <p:cNvPr id="58" name="Text 56"/>
          <p:cNvSpPr/>
          <p:nvPr/>
        </p:nvSpPr>
        <p:spPr>
          <a:xfrm>
            <a:off x="7693762" y="26974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B8A0"/>
                </a:solidFill>
              </a:rPr>
              <a:t>68%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17920" y="30540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自我保護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17920" y="3291840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61" name="Shape 59"/>
          <p:cNvSpPr/>
          <p:nvPr/>
        </p:nvSpPr>
        <p:spPr>
          <a:xfrm>
            <a:off x="6217920" y="3291840"/>
            <a:ext cx="1445666" cy="128016"/>
          </a:xfrm>
          <a:prstGeom prst="rect">
            <a:avLst/>
          </a:prstGeom>
          <a:solidFill>
            <a:srgbClr val="5BB8A0"/>
          </a:solidFill>
          <a:ln/>
        </p:spPr>
      </p:sp>
      <p:sp>
        <p:nvSpPr>
          <p:cNvPr id="62" name="Text 60"/>
          <p:cNvSpPr/>
          <p:nvPr/>
        </p:nvSpPr>
        <p:spPr>
          <a:xfrm>
            <a:off x="7553858" y="32644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B8A0"/>
                </a:solidFill>
              </a:rPr>
              <a:t>62%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17920" y="3621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長期影響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217920" y="3858768"/>
            <a:ext cx="2331720" cy="128016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65" name="Shape 63"/>
          <p:cNvSpPr/>
          <p:nvPr/>
        </p:nvSpPr>
        <p:spPr>
          <a:xfrm>
            <a:off x="6217920" y="3858768"/>
            <a:ext cx="1399032" cy="128016"/>
          </a:xfrm>
          <a:prstGeom prst="rect">
            <a:avLst/>
          </a:prstGeom>
          <a:solidFill>
            <a:srgbClr val="5BB8A0"/>
          </a:solidFill>
          <a:ln/>
        </p:spPr>
      </p:sp>
      <p:sp>
        <p:nvSpPr>
          <p:cNvPr id="66" name="Text 64"/>
          <p:cNvSpPr/>
          <p:nvPr/>
        </p:nvSpPr>
        <p:spPr>
          <a:xfrm>
            <a:off x="7507224" y="38313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B8A0"/>
                </a:solidFill>
              </a:rPr>
              <a:t>60%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199632" y="4224528"/>
            <a:ext cx="2505456" cy="411480"/>
          </a:xfrm>
          <a:prstGeom prst="rect">
            <a:avLst/>
          </a:prstGeom>
          <a:solidFill>
            <a:srgbClr val="F4FAFF"/>
          </a:solidFill>
          <a:ln/>
        </p:spPr>
      </p:sp>
      <p:sp>
        <p:nvSpPr>
          <p:cNvPr id="68" name="Shape 66"/>
          <p:cNvSpPr/>
          <p:nvPr/>
        </p:nvSpPr>
        <p:spPr>
          <a:xfrm>
            <a:off x="6199632" y="4224528"/>
            <a:ext cx="45720" cy="411480"/>
          </a:xfrm>
          <a:prstGeom prst="rect">
            <a:avLst/>
          </a:prstGeom>
          <a:solidFill>
            <a:srgbClr val="5BB8A0"/>
          </a:solidFill>
          <a:ln/>
        </p:spPr>
      </p:sp>
      <p:sp>
        <p:nvSpPr>
          <p:cNvPr id="69" name="Text 67"/>
          <p:cNvSpPr/>
          <p:nvPr/>
        </p:nvSpPr>
        <p:spPr>
          <a:xfrm>
            <a:off x="6291072" y="4224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中立第三方調解可降低直接衝突風險。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B2B 應用場景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0" y="822960"/>
            <a:ext cx="36576" cy="4114800"/>
          </a:xfrm>
          <a:prstGeom prst="rect">
            <a:avLst/>
          </a:prstGeom>
          <a:solidFill>
            <a:srgbClr val="D0ED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22960"/>
            <a:ext cx="3977640" cy="384048"/>
          </a:xfrm>
          <a:prstGeom prst="rect">
            <a:avLst/>
          </a:prstGeom>
          <a:solidFill>
            <a:srgbClr val="8B7CC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229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👩‍🏫 教師 / 師長儀表板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班級心情趨勢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61718"/>
            <a:ext cx="164592" cy="625450"/>
          </a:xfrm>
          <a:prstGeom prst="rect">
            <a:avLst/>
          </a:prstGeom>
          <a:solidFill>
            <a:srgbClr val="3A9EC8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9496" y="2086661"/>
            <a:ext cx="91440" cy="91440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ED0"/>
                </a:solidFill>
              </a:rPr>
              <a:t>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96696" y="1911096"/>
            <a:ext cx="164592" cy="576072"/>
          </a:xfrm>
          <a:prstGeom prst="rect">
            <a:avLst/>
          </a:prstGeom>
          <a:solidFill>
            <a:srgbClr val="3A9EC8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" y="2037283"/>
            <a:ext cx="91440" cy="91440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ED0"/>
                </a:solidFill>
              </a:rPr>
              <a:t>二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90472" y="1960474"/>
            <a:ext cx="164592" cy="526694"/>
          </a:xfrm>
          <a:prstGeom prst="rect">
            <a:avLst/>
          </a:prstGeom>
          <a:solidFill>
            <a:srgbClr val="3A9EC8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7048" y="1971446"/>
            <a:ext cx="91440" cy="91440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18" name="Text 16"/>
          <p:cNvSpPr/>
          <p:nvPr/>
        </p:nvSpPr>
        <p:spPr>
          <a:xfrm>
            <a:off x="1490472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ED0"/>
                </a:solidFill>
              </a:rPr>
              <a:t>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84248" y="1993392"/>
            <a:ext cx="164592" cy="493776"/>
          </a:xfrm>
          <a:prstGeom prst="rect">
            <a:avLst/>
          </a:prstGeom>
          <a:solidFill>
            <a:srgbClr val="3A9EC8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20824" y="1922069"/>
            <a:ext cx="91440" cy="91440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21" name="Text 19"/>
          <p:cNvSpPr/>
          <p:nvPr/>
        </p:nvSpPr>
        <p:spPr>
          <a:xfrm>
            <a:off x="1984248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ED0"/>
                </a:solidFill>
              </a:rPr>
              <a:t>四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78024" y="1927555"/>
            <a:ext cx="164592" cy="559613"/>
          </a:xfrm>
          <a:prstGeom prst="rect">
            <a:avLst/>
          </a:prstGeom>
          <a:solidFill>
            <a:srgbClr val="3A9EC8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1954987"/>
            <a:ext cx="91440" cy="91440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24" name="Text 22"/>
          <p:cNvSpPr/>
          <p:nvPr/>
        </p:nvSpPr>
        <p:spPr>
          <a:xfrm>
            <a:off x="2478024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ED0"/>
                </a:solidFill>
              </a:rPr>
              <a:t>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71800" y="1878178"/>
            <a:ext cx="164592" cy="608990"/>
          </a:xfrm>
          <a:prstGeom prst="rect">
            <a:avLst/>
          </a:prstGeom>
          <a:solidFill>
            <a:srgbClr val="3A9EC8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8376" y="2053742"/>
            <a:ext cx="91440" cy="91440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27" name="Text 25"/>
          <p:cNvSpPr/>
          <p:nvPr/>
        </p:nvSpPr>
        <p:spPr>
          <a:xfrm>
            <a:off x="2971800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ED0"/>
                </a:solidFill>
              </a:rPr>
              <a:t>六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65576" y="1894637"/>
            <a:ext cx="164592" cy="592531"/>
          </a:xfrm>
          <a:prstGeom prst="rect">
            <a:avLst/>
          </a:prstGeom>
          <a:solidFill>
            <a:srgbClr val="3A9EC8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02152" y="2070202"/>
            <a:ext cx="91440" cy="91440"/>
          </a:xfrm>
          <a:prstGeom prst="ellipse">
            <a:avLst/>
          </a:prstGeom>
          <a:solidFill>
            <a:srgbClr val="D4954A"/>
          </a:solidFill>
          <a:ln/>
        </p:spPr>
      </p:sp>
      <p:sp>
        <p:nvSpPr>
          <p:cNvPr id="30" name="Text 28"/>
          <p:cNvSpPr/>
          <p:nvPr/>
        </p:nvSpPr>
        <p:spPr>
          <a:xfrm>
            <a:off x="3465576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ED0"/>
                </a:solidFill>
              </a:rPr>
              <a:t>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28529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9EC8"/>
                </a:solidFill>
              </a:rPr>
              <a:t>● 心情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28529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954A"/>
                </a:solidFill>
              </a:rPr>
              <a:t>● 焦慮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090672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學生情緒列表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4564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小明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87552" y="349300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37" name="Shape 35"/>
          <p:cNvSpPr/>
          <p:nvPr/>
        </p:nvSpPr>
        <p:spPr>
          <a:xfrm>
            <a:off x="1463040" y="349300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3A9EC8"/>
          </a:solidFill>
          <a:ln/>
        </p:spPr>
      </p:sp>
      <p:sp>
        <p:nvSpPr>
          <p:cNvPr id="38" name="Shape 36"/>
          <p:cNvSpPr/>
          <p:nvPr/>
        </p:nvSpPr>
        <p:spPr>
          <a:xfrm>
            <a:off x="1938528" y="349300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D4954A"/>
          </a:solidFill>
          <a:ln/>
        </p:spPr>
      </p:sp>
      <p:sp>
        <p:nvSpPr>
          <p:cNvPr id="39" name="Shape 37"/>
          <p:cNvSpPr/>
          <p:nvPr/>
        </p:nvSpPr>
        <p:spPr>
          <a:xfrm>
            <a:off x="2414016" y="349300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D4954A"/>
          </a:solidFill>
          <a:ln/>
        </p:spPr>
      </p:sp>
      <p:sp>
        <p:nvSpPr>
          <p:cNvPr id="40" name="Shape 38"/>
          <p:cNvSpPr/>
          <p:nvPr/>
        </p:nvSpPr>
        <p:spPr>
          <a:xfrm>
            <a:off x="2889504" y="349300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3A9EC8"/>
          </a:solidFill>
          <a:ln/>
        </p:spPr>
      </p:sp>
      <p:sp>
        <p:nvSpPr>
          <p:cNvPr id="41" name="Shape 39"/>
          <p:cNvSpPr/>
          <p:nvPr/>
        </p:nvSpPr>
        <p:spPr>
          <a:xfrm>
            <a:off x="3364992" y="349300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0480" y="349300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840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小華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87552" y="387705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3A9EC8"/>
          </a:solidFill>
          <a:ln/>
        </p:spPr>
      </p:sp>
      <p:sp>
        <p:nvSpPr>
          <p:cNvPr id="45" name="Shape 43"/>
          <p:cNvSpPr/>
          <p:nvPr/>
        </p:nvSpPr>
        <p:spPr>
          <a:xfrm>
            <a:off x="1463040" y="387705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3A9EC8"/>
          </a:solidFill>
          <a:ln/>
        </p:spPr>
      </p:sp>
      <p:sp>
        <p:nvSpPr>
          <p:cNvPr id="46" name="Shape 44"/>
          <p:cNvSpPr/>
          <p:nvPr/>
        </p:nvSpPr>
        <p:spPr>
          <a:xfrm>
            <a:off x="1938528" y="387705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D0706A"/>
          </a:solidFill>
          <a:ln/>
        </p:spPr>
      </p:sp>
      <p:sp>
        <p:nvSpPr>
          <p:cNvPr id="47" name="Shape 45"/>
          <p:cNvSpPr/>
          <p:nvPr/>
        </p:nvSpPr>
        <p:spPr>
          <a:xfrm>
            <a:off x="2414016" y="387705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D0706A"/>
          </a:solidFill>
          <a:ln/>
        </p:spPr>
      </p:sp>
      <p:sp>
        <p:nvSpPr>
          <p:cNvPr id="48" name="Shape 46"/>
          <p:cNvSpPr/>
          <p:nvPr/>
        </p:nvSpPr>
        <p:spPr>
          <a:xfrm>
            <a:off x="2889504" y="387705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D4954A"/>
          </a:solidFill>
          <a:ln/>
        </p:spPr>
      </p:sp>
      <p:sp>
        <p:nvSpPr>
          <p:cNvPr id="49" name="Shape 47"/>
          <p:cNvSpPr/>
          <p:nvPr/>
        </p:nvSpPr>
        <p:spPr>
          <a:xfrm>
            <a:off x="3364992" y="387705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3A9EC8"/>
          </a:solidFill>
          <a:ln/>
        </p:spPr>
      </p:sp>
      <p:sp>
        <p:nvSpPr>
          <p:cNvPr id="50" name="Shape 48"/>
          <p:cNvSpPr/>
          <p:nvPr/>
        </p:nvSpPr>
        <p:spPr>
          <a:xfrm>
            <a:off x="3840480" y="387705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3A9EC8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2245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小芸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87552" y="4261104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53" name="Shape 51"/>
          <p:cNvSpPr/>
          <p:nvPr/>
        </p:nvSpPr>
        <p:spPr>
          <a:xfrm>
            <a:off x="1463040" y="4261104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54" name="Shape 52"/>
          <p:cNvSpPr/>
          <p:nvPr/>
        </p:nvSpPr>
        <p:spPr>
          <a:xfrm>
            <a:off x="1938528" y="4261104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55" name="Shape 53"/>
          <p:cNvSpPr/>
          <p:nvPr/>
        </p:nvSpPr>
        <p:spPr>
          <a:xfrm>
            <a:off x="2414016" y="4261104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3A9EC8"/>
          </a:solidFill>
          <a:ln/>
        </p:spPr>
      </p:sp>
      <p:sp>
        <p:nvSpPr>
          <p:cNvPr id="56" name="Shape 54"/>
          <p:cNvSpPr/>
          <p:nvPr/>
        </p:nvSpPr>
        <p:spPr>
          <a:xfrm>
            <a:off x="2889504" y="4261104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57" name="Shape 55"/>
          <p:cNvSpPr/>
          <p:nvPr/>
        </p:nvSpPr>
        <p:spPr>
          <a:xfrm>
            <a:off x="3364992" y="4261104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58" name="Shape 56"/>
          <p:cNvSpPr/>
          <p:nvPr/>
        </p:nvSpPr>
        <p:spPr>
          <a:xfrm>
            <a:off x="3840480" y="4261104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5BB8A0"/>
          </a:solidFill>
          <a:ln/>
        </p:spPr>
      </p:sp>
      <p:sp>
        <p:nvSpPr>
          <p:cNvPr id="59" name="Shape 57"/>
          <p:cNvSpPr/>
          <p:nvPr/>
        </p:nvSpPr>
        <p:spPr>
          <a:xfrm>
            <a:off x="4754880" y="822960"/>
            <a:ext cx="4023360" cy="384048"/>
          </a:xfrm>
          <a:prstGeom prst="rect">
            <a:avLst/>
          </a:prstGeom>
          <a:solidFill>
            <a:srgbClr val="D4954A"/>
          </a:solidFill>
          <a:ln/>
        </p:spPr>
      </p:sp>
      <p:sp>
        <p:nvSpPr>
          <p:cNvPr id="60" name="Text 58"/>
          <p:cNvSpPr/>
          <p:nvPr/>
        </p:nvSpPr>
        <p:spPr>
          <a:xfrm>
            <a:off x="480060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🤝 認證陪伴者接單系統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754880" y="1298448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892040" y="1463040"/>
            <a:ext cx="594360" cy="594360"/>
          </a:xfrm>
          <a:prstGeom prst="ellipse">
            <a:avLst/>
          </a:prstGeom>
          <a:solidFill>
            <a:srgbClr val="FDE8CC"/>
          </a:solidFill>
          <a:ln/>
        </p:spPr>
      </p:sp>
      <p:sp>
        <p:nvSpPr>
          <p:cNvPr id="63" name="Text 61"/>
          <p:cNvSpPr/>
          <p:nvPr/>
        </p:nvSpPr>
        <p:spPr>
          <a:xfrm>
            <a:off x="48920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💙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5577840" y="14264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深夜情緒支持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57784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預估 30 分鐘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577840" y="1956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95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🪙 +50 珍珠幣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16368" y="1618488"/>
            <a:ext cx="1097280" cy="329184"/>
          </a:xfrm>
          <a:prstGeom prst="roundRect">
            <a:avLst>
              <a:gd name="adj" fmla="val 27778"/>
            </a:avLst>
          </a:prstGeom>
          <a:solidFill>
            <a:srgbClr val="D4954A"/>
          </a:solidFill>
          <a:ln/>
        </p:spPr>
      </p:sp>
      <p:sp>
        <p:nvSpPr>
          <p:cNvPr id="68" name="Text 66"/>
          <p:cNvSpPr/>
          <p:nvPr/>
        </p:nvSpPr>
        <p:spPr>
          <a:xfrm>
            <a:off x="7516368" y="1618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接單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754880" y="237744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892040" y="2542032"/>
            <a:ext cx="594360" cy="594360"/>
          </a:xfrm>
          <a:prstGeom prst="ellipse">
            <a:avLst/>
          </a:prstGeom>
          <a:solidFill>
            <a:srgbClr val="FDE8CC"/>
          </a:solidFill>
          <a:ln/>
        </p:spPr>
      </p:sp>
      <p:sp>
        <p:nvSpPr>
          <p:cNvPr id="71" name="Text 69"/>
          <p:cNvSpPr/>
          <p:nvPr/>
        </p:nvSpPr>
        <p:spPr>
          <a:xfrm>
            <a:off x="4892040" y="2542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5577840" y="25054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學業壓力疏導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577840" y="2816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預估 20 分鐘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577840" y="3035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95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🪙 +35 珍珠幣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516368" y="2697480"/>
            <a:ext cx="1097280" cy="329184"/>
          </a:xfrm>
          <a:prstGeom prst="roundRect">
            <a:avLst>
              <a:gd name="adj" fmla="val 27778"/>
            </a:avLst>
          </a:prstGeom>
          <a:solidFill>
            <a:srgbClr val="D0EDF8"/>
          </a:solidFill>
          <a:ln/>
        </p:spPr>
      </p:sp>
      <p:sp>
        <p:nvSpPr>
          <p:cNvPr id="76" name="Text 74"/>
          <p:cNvSpPr/>
          <p:nvPr/>
        </p:nvSpPr>
        <p:spPr>
          <a:xfrm>
            <a:off x="7516368" y="2697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EC8"/>
                </a:solidFill>
              </a:rPr>
              <a:t>已接單 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754880" y="3456432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3A5C">
                <a:alpha val="13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892040" y="3621024"/>
            <a:ext cx="594360" cy="594360"/>
          </a:xfrm>
          <a:prstGeom prst="ellipse">
            <a:avLst/>
          </a:prstGeom>
          <a:solidFill>
            <a:srgbClr val="FDE8CC"/>
          </a:solidFill>
          <a:ln/>
        </p:spPr>
      </p:sp>
      <p:sp>
        <p:nvSpPr>
          <p:cNvPr id="79" name="Text 77"/>
          <p:cNvSpPr/>
          <p:nvPr/>
        </p:nvSpPr>
        <p:spPr>
          <a:xfrm>
            <a:off x="4892040" y="36210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5577840" y="35844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自信心建立陪伴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577840" y="38953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預估 45 分鐘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57784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95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🪙 +70 珍珠幣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516368" y="3776472"/>
            <a:ext cx="1097280" cy="329184"/>
          </a:xfrm>
          <a:prstGeom prst="roundRect">
            <a:avLst>
              <a:gd name="adj" fmla="val 27778"/>
            </a:avLst>
          </a:prstGeom>
          <a:solidFill>
            <a:srgbClr val="D4954A"/>
          </a:solidFill>
          <a:ln/>
        </p:spPr>
      </p:sp>
      <p:sp>
        <p:nvSpPr>
          <p:cNvPr id="84" name="Text 82"/>
          <p:cNvSpPr/>
          <p:nvPr/>
        </p:nvSpPr>
        <p:spPr>
          <a:xfrm>
            <a:off x="7516368" y="3776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接單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2D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三大核心服務價值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ED0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D467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331720" cy="2560320"/>
          </a:xfrm>
          <a:prstGeom prst="rect">
            <a:avLst/>
          </a:prstGeom>
          <a:solidFill>
            <a:srgbClr val="1D467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331720" cy="64008"/>
          </a:xfrm>
          <a:prstGeom prst="rect">
            <a:avLst/>
          </a:prstGeom>
          <a:solidFill>
            <a:srgbClr val="3A9EC8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188720"/>
            <a:ext cx="685800" cy="685800"/>
          </a:xfrm>
          <a:prstGeom prst="ellipse">
            <a:avLst/>
          </a:prstGeom>
          <a:solidFill>
            <a:srgbClr val="3A9EC8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9E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即時性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2395728"/>
            <a:ext cx="1234440" cy="36576"/>
          </a:xfrm>
          <a:prstGeom prst="rect">
            <a:avLst/>
          </a:prstGeom>
          <a:solidFill>
            <a:srgbClr val="3A9EC8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 小時隨時可用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深夜情緒支援不缺席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3240" y="1005840"/>
            <a:ext cx="2331720" cy="2560320"/>
          </a:xfrm>
          <a:prstGeom prst="rect">
            <a:avLst/>
          </a:prstGeom>
          <a:solidFill>
            <a:srgbClr val="2A2850"/>
          </a:solidFill>
          <a:ln/>
        </p:spPr>
      </p:sp>
      <p:sp>
        <p:nvSpPr>
          <p:cNvPr id="14" name="Shape 12"/>
          <p:cNvSpPr/>
          <p:nvPr/>
        </p:nvSpPr>
        <p:spPr>
          <a:xfrm>
            <a:off x="3063240" y="1005840"/>
            <a:ext cx="2331720" cy="64008"/>
          </a:xfrm>
          <a:prstGeom prst="rect">
            <a:avLst/>
          </a:prstGeom>
          <a:solidFill>
            <a:srgbClr val="8B7CC8"/>
          </a:solidFill>
          <a:ln/>
        </p:spPr>
      </p:sp>
      <p:sp>
        <p:nvSpPr>
          <p:cNvPr id="15" name="Shape 13"/>
          <p:cNvSpPr/>
          <p:nvPr/>
        </p:nvSpPr>
        <p:spPr>
          <a:xfrm>
            <a:off x="3886200" y="1188720"/>
            <a:ext cx="685800" cy="685800"/>
          </a:xfrm>
          <a:prstGeom prst="ellipse">
            <a:avLst/>
          </a:prstGeom>
          <a:solidFill>
            <a:srgbClr val="8B7CC8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63240" y="1965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C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隱私安全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11880" y="2395728"/>
            <a:ext cx="1234440" cy="36576"/>
          </a:xfrm>
          <a:prstGeom prst="rect">
            <a:avLst/>
          </a:prstGeom>
          <a:solidFill>
            <a:srgbClr val="8B7CC8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對話不上傳伺服器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本地執行保護隱私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1005840"/>
            <a:ext cx="2331720" cy="2560320"/>
          </a:xfrm>
          <a:prstGeom prst="rect">
            <a:avLst/>
          </a:prstGeom>
          <a:solidFill>
            <a:srgbClr val="3A2A1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1005840"/>
            <a:ext cx="2331720" cy="64008"/>
          </a:xfrm>
          <a:prstGeom prst="rect">
            <a:avLst/>
          </a:prstGeom>
          <a:solidFill>
            <a:srgbClr val="D495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1188720"/>
            <a:ext cx="685800" cy="685800"/>
          </a:xfrm>
          <a:prstGeom prst="ellipse">
            <a:avLst/>
          </a:prstGeom>
          <a:solidFill>
            <a:srgbClr val="D4954A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0" y="1965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5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共融社群感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17920" y="2395728"/>
            <a:ext cx="1234440" cy="36576"/>
          </a:xfrm>
          <a:prstGeom prst="rect">
            <a:avLst/>
          </a:prstGeom>
          <a:solidFill>
            <a:srgbClr val="D4954A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海豚 + 真人陪伴者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雙軌支持建立歸屬感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7132320" cy="54864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136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BED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系統設計旨在深入培養使用者的同理心、人際互動能力與社會支持感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0ED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🐬  海豚交友系統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海豚交友系統說明</dc:title>
  <dc:subject>PptxGenJS Presentation</dc:subject>
  <dc:creator>PptxGenJS</dc:creator>
  <cp:lastModifiedBy>PptxGenJS</cp:lastModifiedBy>
  <cp:revision>1</cp:revision>
  <dcterms:created xsi:type="dcterms:W3CDTF">2026-06-07T14:21:23Z</dcterms:created>
  <dcterms:modified xsi:type="dcterms:W3CDTF">2026-06-07T14:21:23Z</dcterms:modified>
</cp:coreProperties>
</file>